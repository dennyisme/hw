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B9FB-16ED-4B10-8A41-6CC203A09E49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824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F67BB-8ED4-43BC-A5A2-B427A5AB006D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707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1F484-C8D8-4E2E-A310-B4E5304B14BC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2462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EBAB-1804-4C6A-8BF1-06EB00A371FF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9217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47DBD-698F-4F23-988A-773CA58D512B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626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0859-561D-40D9-A3F6-DF8968CA4861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1982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774B-79D4-4A4E-9433-70C19C1706EF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8466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C8AD6-2710-46EB-9626-0C48AFAE56DB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80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FFE8F-7E1F-4866-AAA8-72BACC3BF95A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43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F0D9-A6D0-4637-A7E2-18BF557AFF90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2608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5FF3B-D85F-4F22-8A0F-CE4F4DDA7412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100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B782-CA5D-46F8-9B15-9B14E867B3EF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1128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9D0A-F902-4681-8F5F-6C94CB39E571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7034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8A2F-18ED-4DC0-80F5-D1B3D884CF55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150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145C-DFC0-4588-978D-9DD3BDFAC399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9108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D8B0-0408-42FF-8D28-1D477616526F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202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3629-3203-4C50-8101-7A94C03CB2A6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2357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9FB4-EF48-4BC6-8A62-E242E15BF036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99A2-50BD-4660-85DA-129A1F3331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950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C29D142-2875-4305-A6FB-EB0FBFD294F2}" type="datetime1">
              <a:rPr lang="zh-TW" altLang="en-US" smtClean="0"/>
              <a:t>2024/6/7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590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33C3F6-F531-2246-9837-ECE57BECB6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HW3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比較結果</a:t>
            </a:r>
            <a:endParaRPr lang="zh-TW" altLang="en-US" sz="1400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03D62F-1FAA-3594-0696-AD97EDA35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4266446"/>
            <a:ext cx="8689976" cy="1371599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P76121314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鄭煜醴</a:t>
            </a:r>
          </a:p>
        </p:txBody>
      </p:sp>
    </p:spTree>
    <p:extLst>
      <p:ext uri="{BB962C8B-B14F-4D97-AF65-F5344CB8AC3E}">
        <p14:creationId xmlns:p14="http://schemas.microsoft.com/office/powerpoint/2010/main" val="911789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A87CE2-33C6-B837-E7D9-1383C3A2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153908"/>
            <a:ext cx="10364451" cy="930361"/>
          </a:xfrm>
        </p:spPr>
        <p:txBody>
          <a:bodyPr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任務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比較結果</a:t>
            </a:r>
            <a:endParaRPr lang="zh-TW" altLang="en-US" sz="36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9A7CF-9849-1F67-A824-C06D91DA7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514" y="1276274"/>
            <a:ext cx="10364452" cy="865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比較方法：圖像輸出的分割圖像會先轉換成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heatmap(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做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sigmoid)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，之後將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heatmap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轉換成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binary mask(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設置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threshold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0.5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heatmap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大於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threshold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的值轉換成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，小於等於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threshold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轉換成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0)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如下圖流程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14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6E2331-A3D3-4D60-A166-955EB7C2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227" y="6406726"/>
            <a:ext cx="76421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8199A2-50BD-4660-85DA-129A1F333112}" type="slidenum">
              <a:rPr kumimoji="0" lang="zh-TW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445A3F86-1585-78B0-E568-4E492E8B50EC}"/>
              </a:ext>
            </a:extLst>
          </p:cNvPr>
          <p:cNvGrpSpPr/>
          <p:nvPr/>
        </p:nvGrpSpPr>
        <p:grpSpPr>
          <a:xfrm>
            <a:off x="0" y="2417372"/>
            <a:ext cx="11278227" cy="3565364"/>
            <a:chOff x="0" y="2145768"/>
            <a:chExt cx="11278227" cy="356536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8A2C373-7AA0-7C5C-FE2D-306836CF3AA8}"/>
                </a:ext>
              </a:extLst>
            </p:cNvPr>
            <p:cNvSpPr/>
            <p:nvPr/>
          </p:nvSpPr>
          <p:spPr>
            <a:xfrm>
              <a:off x="2963721" y="2661000"/>
              <a:ext cx="793880" cy="5432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模型</a:t>
              </a:r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A972D1A7-3890-A78C-E90F-97CBC91E415A}"/>
                </a:ext>
              </a:extLst>
            </p:cNvPr>
            <p:cNvCxnSpPr>
              <a:cxnSpLocks/>
              <a:stCxn id="10" idx="3"/>
              <a:endCxn id="5" idx="1"/>
            </p:cNvCxnSpPr>
            <p:nvPr/>
          </p:nvCxnSpPr>
          <p:spPr>
            <a:xfrm flipV="1">
              <a:off x="2701170" y="2932604"/>
              <a:ext cx="262551" cy="5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04D898BC-BE52-AD91-7D00-B215F637FEA2}"/>
                </a:ext>
              </a:extLst>
            </p:cNvPr>
            <p:cNvSpPr txBox="1"/>
            <p:nvPr/>
          </p:nvSpPr>
          <p:spPr>
            <a:xfrm>
              <a:off x="1714343" y="2799438"/>
              <a:ext cx="9868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輸入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image</a:t>
              </a:r>
              <a:endPara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542F56E1-A5AC-A673-2EC8-E306CC375123}"/>
                </a:ext>
              </a:extLst>
            </p:cNvPr>
            <p:cNvSpPr txBox="1"/>
            <p:nvPr/>
          </p:nvSpPr>
          <p:spPr>
            <a:xfrm>
              <a:off x="896514" y="2145768"/>
              <a:ext cx="18046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Prompt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：要分割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object </a:t>
              </a:r>
            </a:p>
            <a:p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(ex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the airplane)</a:t>
              </a:r>
              <a:endPara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5" name="接點: 肘形 14">
              <a:extLst>
                <a:ext uri="{FF2B5EF4-FFF2-40B4-BE49-F238E27FC236}">
                  <a16:creationId xmlns:a16="http://schemas.microsoft.com/office/drawing/2014/main" id="{3E992BBD-DD4D-181B-F0F7-700F99DF8EA9}"/>
                </a:ext>
              </a:extLst>
            </p:cNvPr>
            <p:cNvCxnSpPr>
              <a:cxnSpLocks/>
              <a:stCxn id="13" idx="3"/>
              <a:endCxn id="5" idx="0"/>
            </p:cNvCxnSpPr>
            <p:nvPr/>
          </p:nvCxnSpPr>
          <p:spPr>
            <a:xfrm>
              <a:off x="2701170" y="2376601"/>
              <a:ext cx="659491" cy="2843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1A178628-E01E-C1D9-405D-878A7AC7EC32}"/>
                </a:ext>
              </a:extLst>
            </p:cNvPr>
            <p:cNvCxnSpPr>
              <a:cxnSpLocks/>
              <a:stCxn id="5" idx="3"/>
              <a:endCxn id="26" idx="1"/>
            </p:cNvCxnSpPr>
            <p:nvPr/>
          </p:nvCxnSpPr>
          <p:spPr>
            <a:xfrm flipV="1">
              <a:off x="3757601" y="2932543"/>
              <a:ext cx="961643" cy="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65938677-17C6-DFDE-2599-6D0F88E45357}"/>
                </a:ext>
              </a:extLst>
            </p:cNvPr>
            <p:cNvSpPr txBox="1"/>
            <p:nvPr/>
          </p:nvSpPr>
          <p:spPr>
            <a:xfrm>
              <a:off x="3687997" y="2684128"/>
              <a:ext cx="11377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輸出分割結果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B47EE13-02CE-FCE4-7DAC-A6CD04819D7B}"/>
                </a:ext>
              </a:extLst>
            </p:cNvPr>
            <p:cNvSpPr/>
            <p:nvPr/>
          </p:nvSpPr>
          <p:spPr>
            <a:xfrm>
              <a:off x="4719244" y="2660939"/>
              <a:ext cx="793880" cy="5432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sigmoid</a:t>
              </a:r>
              <a:endPara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F1D74183-403C-04F0-D966-8C8C52FE5CD3}"/>
                </a:ext>
              </a:extLst>
            </p:cNvPr>
            <p:cNvCxnSpPr>
              <a:cxnSpLocks/>
              <a:stCxn id="26" idx="3"/>
              <a:endCxn id="34" idx="1"/>
            </p:cNvCxnSpPr>
            <p:nvPr/>
          </p:nvCxnSpPr>
          <p:spPr>
            <a:xfrm>
              <a:off x="5513124" y="2932543"/>
              <a:ext cx="7955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0F2BB3EB-5B59-BCBA-2FD1-DF4A8E0ED2DD}"/>
                </a:ext>
              </a:extLst>
            </p:cNvPr>
            <p:cNvSpPr txBox="1"/>
            <p:nvPr/>
          </p:nvSpPr>
          <p:spPr>
            <a:xfrm>
              <a:off x="5491046" y="2684128"/>
              <a:ext cx="8397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heatmap</a:t>
              </a:r>
              <a:endPara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7E93E1E-6797-6730-D4D9-8CDDFFA4446C}"/>
                </a:ext>
              </a:extLst>
            </p:cNvPr>
            <p:cNvSpPr/>
            <p:nvPr/>
          </p:nvSpPr>
          <p:spPr>
            <a:xfrm>
              <a:off x="6308685" y="2660939"/>
              <a:ext cx="1513730" cy="5432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轉換成</a:t>
              </a:r>
              <a:r>
                <a:rPr lang="en-US" altLang="zh-TW" sz="12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binary mask</a:t>
              </a:r>
              <a:endPara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26DF5719-A678-A71C-233A-4482A8F7460C}"/>
                </a:ext>
              </a:extLst>
            </p:cNvPr>
            <p:cNvSpPr/>
            <p:nvPr/>
          </p:nvSpPr>
          <p:spPr>
            <a:xfrm>
              <a:off x="8801717" y="2660974"/>
              <a:ext cx="1130155" cy="5432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計算評估指標</a:t>
              </a:r>
            </a:p>
          </p:txBody>
        </p: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C7C0ECBB-E9E7-11A8-1A7E-AA5995D1EFB7}"/>
                </a:ext>
              </a:extLst>
            </p:cNvPr>
            <p:cNvCxnSpPr>
              <a:cxnSpLocks/>
              <a:stCxn id="34" idx="3"/>
              <a:endCxn id="39" idx="1"/>
            </p:cNvCxnSpPr>
            <p:nvPr/>
          </p:nvCxnSpPr>
          <p:spPr>
            <a:xfrm>
              <a:off x="7822415" y="2932543"/>
              <a:ext cx="979302" cy="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8617C8AE-3424-47A5-7E76-2DC7702D8539}"/>
                </a:ext>
              </a:extLst>
            </p:cNvPr>
            <p:cNvSpPr txBox="1"/>
            <p:nvPr/>
          </p:nvSpPr>
          <p:spPr>
            <a:xfrm>
              <a:off x="7772576" y="2684128"/>
              <a:ext cx="1078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binary mask</a:t>
              </a:r>
              <a:endPara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52" name="直線單箭頭接點 51">
              <a:extLst>
                <a:ext uri="{FF2B5EF4-FFF2-40B4-BE49-F238E27FC236}">
                  <a16:creationId xmlns:a16="http://schemas.microsoft.com/office/drawing/2014/main" id="{33CF7111-EB26-345F-26A3-C4CB79E69A30}"/>
                </a:ext>
              </a:extLst>
            </p:cNvPr>
            <p:cNvCxnSpPr>
              <a:cxnSpLocks/>
              <a:stCxn id="39" idx="3"/>
              <a:endCxn id="83" idx="1"/>
            </p:cNvCxnSpPr>
            <p:nvPr/>
          </p:nvCxnSpPr>
          <p:spPr>
            <a:xfrm flipV="1">
              <a:off x="9931872" y="2926914"/>
              <a:ext cx="470375" cy="56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C1C1AA2D-33A1-689E-9089-EB2CA79CDBEF}"/>
                </a:ext>
              </a:extLst>
            </p:cNvPr>
            <p:cNvSpPr txBox="1"/>
            <p:nvPr/>
          </p:nvSpPr>
          <p:spPr>
            <a:xfrm>
              <a:off x="10402247" y="2788414"/>
              <a:ext cx="875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評估結果</a:t>
              </a:r>
              <a:endPara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87" name="圖片 86">
              <a:extLst>
                <a:ext uri="{FF2B5EF4-FFF2-40B4-BE49-F238E27FC236}">
                  <a16:creationId xmlns:a16="http://schemas.microsoft.com/office/drawing/2014/main" id="{86FEEB0D-238A-283B-705E-4C304E28A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8175" y="3710360"/>
              <a:ext cx="3044971" cy="2000772"/>
            </a:xfrm>
            <a:prstGeom prst="rect">
              <a:avLst/>
            </a:prstGeom>
          </p:spPr>
        </p:pic>
        <p:cxnSp>
          <p:nvCxnSpPr>
            <p:cNvPr id="89" name="直線單箭頭接點 88">
              <a:extLst>
                <a:ext uri="{FF2B5EF4-FFF2-40B4-BE49-F238E27FC236}">
                  <a16:creationId xmlns:a16="http://schemas.microsoft.com/office/drawing/2014/main" id="{A620BBDA-981A-645F-FEFA-6698C2F9AD57}"/>
                </a:ext>
              </a:extLst>
            </p:cNvPr>
            <p:cNvCxnSpPr>
              <a:stCxn id="87" idx="0"/>
              <a:endCxn id="5" idx="2"/>
            </p:cNvCxnSpPr>
            <p:nvPr/>
          </p:nvCxnSpPr>
          <p:spPr>
            <a:xfrm flipV="1">
              <a:off x="3360661" y="3204208"/>
              <a:ext cx="0" cy="506152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19360CF1-0D1A-F993-39D2-6C2D463A5EE6}"/>
                </a:ext>
              </a:extLst>
            </p:cNvPr>
            <p:cNvSpPr/>
            <p:nvPr/>
          </p:nvSpPr>
          <p:spPr>
            <a:xfrm>
              <a:off x="1838175" y="3710360"/>
              <a:ext cx="1330759" cy="9468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C2545182-ADF7-9954-5024-1AD406AFAEF6}"/>
                </a:ext>
              </a:extLst>
            </p:cNvPr>
            <p:cNvSpPr txBox="1"/>
            <p:nvPr/>
          </p:nvSpPr>
          <p:spPr>
            <a:xfrm>
              <a:off x="0" y="3856352"/>
              <a:ext cx="18915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Prompt </a:t>
              </a:r>
              <a:r>
                <a:rPr lang="zh-TW" altLang="en-US" sz="12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輸入進前會先做 </a:t>
              </a:r>
              <a:r>
                <a:rPr lang="en-US" altLang="zh-TW" sz="12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prompt engineering</a:t>
              </a:r>
              <a:endPara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020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A87CE2-33C6-B837-E7D9-1383C3A2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153908"/>
            <a:ext cx="10364451" cy="930361"/>
          </a:xfrm>
        </p:spPr>
        <p:txBody>
          <a:bodyPr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任務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比較結果</a:t>
            </a:r>
            <a:endParaRPr lang="zh-TW" altLang="en-US" sz="36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9A7CF-9849-1F67-A824-C06D91DA7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084269"/>
            <a:ext cx="10364452" cy="407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分割目標：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Pascal-5i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資料集中的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airplane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部分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threshold = 0.5)</a:t>
            </a:r>
            <a:endParaRPr lang="en-US" altLang="zh-TW" sz="14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6E2331-A3D3-4D60-A166-955EB7C2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227" y="6406726"/>
            <a:ext cx="76421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8199A2-50BD-4660-85DA-129A1F333112}" type="slidenum">
              <a:rPr kumimoji="0" lang="zh-TW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10C731F0-A05D-57E8-64FD-41C7119B0A94}"/>
              </a:ext>
            </a:extLst>
          </p:cNvPr>
          <p:cNvGrpSpPr/>
          <p:nvPr/>
        </p:nvGrpSpPr>
        <p:grpSpPr>
          <a:xfrm>
            <a:off x="1271420" y="1491940"/>
            <a:ext cx="9649159" cy="4758272"/>
            <a:chOff x="1765424" y="1574290"/>
            <a:chExt cx="9649159" cy="4758272"/>
          </a:xfrm>
        </p:grpSpPr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6DFB72D2-9A79-2FDF-B2F2-31E62C250446}"/>
                </a:ext>
              </a:extLst>
            </p:cNvPr>
            <p:cNvSpPr txBox="1"/>
            <p:nvPr/>
          </p:nvSpPr>
          <p:spPr>
            <a:xfrm>
              <a:off x="1765424" y="1574290"/>
              <a:ext cx="21728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未加入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prompt engineering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2835942F-C8E1-1AFB-5144-8C9AF19B36EE}"/>
                </a:ext>
              </a:extLst>
            </p:cNvPr>
            <p:cNvSpPr txBox="1"/>
            <p:nvPr/>
          </p:nvSpPr>
          <p:spPr>
            <a:xfrm>
              <a:off x="1765424" y="3983017"/>
              <a:ext cx="21728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加入</a:t>
              </a:r>
              <a:r>
                <a:rPr lang="en-US" altLang="zh-TW" sz="12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prompt engineering</a:t>
              </a:r>
              <a:endPara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25" name="圖片 24" descr="一張含有 平面設計, 文字, 螢幕擷取畫面, 圖形 的圖片&#10;&#10;自動產生的描述">
              <a:extLst>
                <a:ext uri="{FF2B5EF4-FFF2-40B4-BE49-F238E27FC236}">
                  <a16:creationId xmlns:a16="http://schemas.microsoft.com/office/drawing/2014/main" id="{672C01BD-73F3-1C3C-80CA-6DF29E56B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7257" y="4255563"/>
              <a:ext cx="6750000" cy="1800000"/>
            </a:xfrm>
            <a:prstGeom prst="rect">
              <a:avLst/>
            </a:prstGeom>
          </p:spPr>
        </p:pic>
        <p:pic>
          <p:nvPicPr>
            <p:cNvPr id="28" name="圖片 27" descr="一張含有 平面設計, 文字, 螢幕擷取畫面, 圖形 的圖片&#10;&#10;自動產生的描述">
              <a:extLst>
                <a:ext uri="{FF2B5EF4-FFF2-40B4-BE49-F238E27FC236}">
                  <a16:creationId xmlns:a16="http://schemas.microsoft.com/office/drawing/2014/main" id="{CE17B831-A6A6-A14E-150E-59D8E08C0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5425" y="1854045"/>
              <a:ext cx="6750000" cy="1800000"/>
            </a:xfrm>
            <a:prstGeom prst="rect">
              <a:avLst/>
            </a:prstGeom>
          </p:spPr>
        </p:pic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52A44F2D-CD82-E316-E0CA-CF1DB914FDBC}"/>
                </a:ext>
              </a:extLst>
            </p:cNvPr>
            <p:cNvSpPr txBox="1"/>
            <p:nvPr/>
          </p:nvSpPr>
          <p:spPr>
            <a:xfrm>
              <a:off x="4000876" y="4288725"/>
              <a:ext cx="11060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Binary mask</a:t>
              </a:r>
              <a:endPara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D91B92D-4DA8-59A3-74EC-B938311E72AA}"/>
                </a:ext>
              </a:extLst>
            </p:cNvPr>
            <p:cNvSpPr/>
            <p:nvPr/>
          </p:nvSpPr>
          <p:spPr>
            <a:xfrm>
              <a:off x="5283444" y="4575293"/>
              <a:ext cx="1235051" cy="117788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91AC07F-CFDE-DFB0-2991-6658CAACDE25}"/>
                </a:ext>
              </a:extLst>
            </p:cNvPr>
            <p:cNvSpPr/>
            <p:nvPr/>
          </p:nvSpPr>
          <p:spPr>
            <a:xfrm>
              <a:off x="3905374" y="4571075"/>
              <a:ext cx="1235051" cy="11778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902C41F-D517-2914-8E31-E09A06BD944C}"/>
                </a:ext>
              </a:extLst>
            </p:cNvPr>
            <p:cNvSpPr/>
            <p:nvPr/>
          </p:nvSpPr>
          <p:spPr>
            <a:xfrm>
              <a:off x="3905374" y="2169262"/>
              <a:ext cx="1235051" cy="11778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D6947AD-421E-D219-ACFB-FF4A4EC46FF1}"/>
                </a:ext>
              </a:extLst>
            </p:cNvPr>
            <p:cNvSpPr/>
            <p:nvPr/>
          </p:nvSpPr>
          <p:spPr>
            <a:xfrm>
              <a:off x="5283444" y="2169262"/>
              <a:ext cx="1235051" cy="117788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ED8B7C53-EAA2-7923-6794-2BFCDE2B2184}"/>
                </a:ext>
              </a:extLst>
            </p:cNvPr>
            <p:cNvSpPr txBox="1"/>
            <p:nvPr/>
          </p:nvSpPr>
          <p:spPr>
            <a:xfrm>
              <a:off x="5347952" y="4288725"/>
              <a:ext cx="11060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00B05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Heat map</a:t>
              </a:r>
              <a:endParaRPr lang="zh-TW" altLang="en-US" sz="1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A303C999-4805-220B-95D5-424E96BC7250}"/>
                </a:ext>
              </a:extLst>
            </p:cNvPr>
            <p:cNvSpPr/>
            <p:nvPr/>
          </p:nvSpPr>
          <p:spPr>
            <a:xfrm>
              <a:off x="6661514" y="2169262"/>
              <a:ext cx="1235051" cy="1177882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161B40AA-F545-26C4-EC79-AAE31498C847}"/>
                </a:ext>
              </a:extLst>
            </p:cNvPr>
            <p:cNvSpPr/>
            <p:nvPr/>
          </p:nvSpPr>
          <p:spPr>
            <a:xfrm>
              <a:off x="6661513" y="4571075"/>
              <a:ext cx="1235051" cy="1177882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262A3A6D-D3A3-0D6E-4F05-B5D73D69ED62}"/>
                </a:ext>
              </a:extLst>
            </p:cNvPr>
            <p:cNvSpPr txBox="1"/>
            <p:nvPr/>
          </p:nvSpPr>
          <p:spPr>
            <a:xfrm>
              <a:off x="6597004" y="4288725"/>
              <a:ext cx="11060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7030A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Answer</a:t>
              </a:r>
              <a:endParaRPr lang="zh-TW" altLang="en-US" sz="12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2E943D8A-CE92-D39F-108C-E4B86CFE4AE5}"/>
                </a:ext>
              </a:extLst>
            </p:cNvPr>
            <p:cNvSpPr txBox="1"/>
            <p:nvPr/>
          </p:nvSpPr>
          <p:spPr>
            <a:xfrm>
              <a:off x="4000876" y="1877908"/>
              <a:ext cx="11060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Binary mask</a:t>
              </a:r>
              <a:endPara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9C2B905F-68AB-72AE-6A9B-0EB0D2B8A083}"/>
                </a:ext>
              </a:extLst>
            </p:cNvPr>
            <p:cNvSpPr txBox="1"/>
            <p:nvPr/>
          </p:nvSpPr>
          <p:spPr>
            <a:xfrm>
              <a:off x="5347952" y="1877908"/>
              <a:ext cx="11060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00B05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Heat map</a:t>
              </a:r>
              <a:endParaRPr lang="zh-TW" altLang="en-US" sz="1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B78C3F7D-D90A-B7CB-AF2F-C7C67F5F44AC}"/>
                </a:ext>
              </a:extLst>
            </p:cNvPr>
            <p:cNvSpPr txBox="1"/>
            <p:nvPr/>
          </p:nvSpPr>
          <p:spPr>
            <a:xfrm>
              <a:off x="6597004" y="1877908"/>
              <a:ext cx="11060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7030A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Answer</a:t>
              </a:r>
              <a:endParaRPr lang="zh-TW" altLang="en-US" sz="12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53" name="圖片 52" descr="一張含有 胭脂紅 的圖片&#10;&#10;自動產生的描述">
              <a:extLst>
                <a:ext uri="{FF2B5EF4-FFF2-40B4-BE49-F238E27FC236}">
                  <a16:creationId xmlns:a16="http://schemas.microsoft.com/office/drawing/2014/main" id="{D53E61DD-B712-982A-6B3E-012E049D0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6583" y="3167833"/>
              <a:ext cx="2448000" cy="1630368"/>
            </a:xfrm>
            <a:prstGeom prst="rect">
              <a:avLst/>
            </a:prstGeom>
          </p:spPr>
        </p:pic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1003B8A8-0EFD-26EE-8F7F-1510CF1D2DD4}"/>
                </a:ext>
              </a:extLst>
            </p:cNvPr>
            <p:cNvCxnSpPr>
              <a:stCxn id="53" idx="1"/>
              <a:endCxn id="44" idx="3"/>
            </p:cNvCxnSpPr>
            <p:nvPr/>
          </p:nvCxnSpPr>
          <p:spPr>
            <a:xfrm flipH="1" flipV="1">
              <a:off x="7896565" y="2758203"/>
              <a:ext cx="1070018" cy="12248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6" name="直線單箭頭接點 55">
              <a:extLst>
                <a:ext uri="{FF2B5EF4-FFF2-40B4-BE49-F238E27FC236}">
                  <a16:creationId xmlns:a16="http://schemas.microsoft.com/office/drawing/2014/main" id="{C753BE41-A9A8-1E72-BD58-29035E3F0944}"/>
                </a:ext>
              </a:extLst>
            </p:cNvPr>
            <p:cNvCxnSpPr>
              <a:cxnSpLocks/>
              <a:stCxn id="53" idx="1"/>
              <a:endCxn id="45" idx="3"/>
            </p:cNvCxnSpPr>
            <p:nvPr/>
          </p:nvCxnSpPr>
          <p:spPr>
            <a:xfrm flipH="1">
              <a:off x="7896564" y="3983017"/>
              <a:ext cx="1070019" cy="11769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D431F8FF-CAE4-F996-CD26-77C30B1AC10C}"/>
                </a:ext>
              </a:extLst>
            </p:cNvPr>
            <p:cNvSpPr txBox="1"/>
            <p:nvPr/>
          </p:nvSpPr>
          <p:spPr>
            <a:xfrm>
              <a:off x="8930567" y="2903397"/>
              <a:ext cx="11060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7030A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Answer</a:t>
              </a:r>
              <a:endParaRPr lang="zh-TW" altLang="en-US" sz="12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990D392C-AD54-CD56-88B5-D61293A6BD89}"/>
                </a:ext>
              </a:extLst>
            </p:cNvPr>
            <p:cNvCxnSpPr/>
            <p:nvPr/>
          </p:nvCxnSpPr>
          <p:spPr>
            <a:xfrm>
              <a:off x="4345664" y="3645286"/>
              <a:ext cx="1611516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接點 62">
              <a:extLst>
                <a:ext uri="{FF2B5EF4-FFF2-40B4-BE49-F238E27FC236}">
                  <a16:creationId xmlns:a16="http://schemas.microsoft.com/office/drawing/2014/main" id="{BDC938E9-23BB-C71F-C087-00DD8A0C9A8A}"/>
                </a:ext>
              </a:extLst>
            </p:cNvPr>
            <p:cNvCxnSpPr/>
            <p:nvPr/>
          </p:nvCxnSpPr>
          <p:spPr>
            <a:xfrm>
              <a:off x="4345664" y="6073354"/>
              <a:ext cx="1611516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41ECCDAE-DCC2-B28C-537D-FF696A5BCC2E}"/>
                </a:ext>
              </a:extLst>
            </p:cNvPr>
            <p:cNvSpPr txBox="1"/>
            <p:nvPr/>
          </p:nvSpPr>
          <p:spPr>
            <a:xfrm>
              <a:off x="5643370" y="3640208"/>
              <a:ext cx="8106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>
                  <a:solidFill>
                    <a:schemeClr val="accen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評估指標</a:t>
              </a:r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7EA21862-69F5-13E8-DCBB-88AFD7F890D3}"/>
                </a:ext>
              </a:extLst>
            </p:cNvPr>
            <p:cNvSpPr txBox="1"/>
            <p:nvPr/>
          </p:nvSpPr>
          <p:spPr>
            <a:xfrm>
              <a:off x="5643370" y="6055563"/>
              <a:ext cx="8106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>
                  <a:solidFill>
                    <a:schemeClr val="accen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評估指標</a:t>
              </a:r>
            </a:p>
          </p:txBody>
        </p:sp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9AEF4270-D6E4-66CF-7AD9-BE6F67CC41FE}"/>
              </a:ext>
            </a:extLst>
          </p:cNvPr>
          <p:cNvSpPr txBox="1"/>
          <p:nvPr/>
        </p:nvSpPr>
        <p:spPr>
          <a:xfrm>
            <a:off x="3776795" y="6484115"/>
            <a:ext cx="478142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在模型加入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後，性能有著些許的提升</a:t>
            </a:r>
          </a:p>
        </p:txBody>
      </p:sp>
    </p:spTree>
    <p:extLst>
      <p:ext uri="{BB962C8B-B14F-4D97-AF65-F5344CB8AC3E}">
        <p14:creationId xmlns:p14="http://schemas.microsoft.com/office/powerpoint/2010/main" val="2321308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A87CE2-33C6-B837-E7D9-1383C3A2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153908"/>
            <a:ext cx="10364451" cy="930361"/>
          </a:xfrm>
        </p:spPr>
        <p:txBody>
          <a:bodyPr/>
          <a:lstStyle/>
          <a:p>
            <a:pPr algn="ctr"/>
            <a:r>
              <a:rPr lang="zh-TW" altLang="en-US" sz="36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9A7CF-9849-1F67-A824-C06D91DA7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084269"/>
            <a:ext cx="10364452" cy="407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分割目標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Pascal-5i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資料集中的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airplane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部分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(threshold = 0.6)</a:t>
            </a:r>
            <a:endParaRPr lang="en-US" altLang="zh-TW" sz="14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6E2331-A3D3-4D60-A166-955EB7C2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227" y="6406726"/>
            <a:ext cx="76421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8199A2-50BD-4660-85DA-129A1F333112}" type="slidenum">
              <a:rPr kumimoji="0" lang="zh-TW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10" name="圖片 9" descr="一張含有 平面設計, 文字, 螢幕擷取畫面, 圖形 的圖片&#10;&#10;自動產生的描述">
            <a:extLst>
              <a:ext uri="{FF2B5EF4-FFF2-40B4-BE49-F238E27FC236}">
                <a16:creationId xmlns:a16="http://schemas.microsoft.com/office/drawing/2014/main" id="{8E0266B3-DE60-E37F-FF5F-CDF407865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20" y="1796303"/>
            <a:ext cx="6750000" cy="1800000"/>
          </a:xfrm>
          <a:prstGeom prst="rect">
            <a:avLst/>
          </a:prstGeom>
        </p:spPr>
      </p:pic>
      <p:pic>
        <p:nvPicPr>
          <p:cNvPr id="12" name="圖片 11" descr="一張含有 平面設計, 文字, 螢幕擷取畫面, 圖形 的圖片&#10;&#10;自動產生的描述">
            <a:extLst>
              <a:ext uri="{FF2B5EF4-FFF2-40B4-BE49-F238E27FC236}">
                <a16:creationId xmlns:a16="http://schemas.microsoft.com/office/drawing/2014/main" id="{35B16999-314E-4DF9-EF68-5ABB547A4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20" y="4177666"/>
            <a:ext cx="6750000" cy="180000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864BB83-2D7B-C788-A5F7-BC8B2DAA3CA3}"/>
              </a:ext>
            </a:extLst>
          </p:cNvPr>
          <p:cNvSpPr txBox="1"/>
          <p:nvPr/>
        </p:nvSpPr>
        <p:spPr>
          <a:xfrm>
            <a:off x="1271420" y="1491940"/>
            <a:ext cx="21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未加入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endParaRPr lang="zh-TW" altLang="en-US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ECBCECD-0074-017D-CDB0-4F535840F4AD}"/>
              </a:ext>
            </a:extLst>
          </p:cNvPr>
          <p:cNvSpPr txBox="1"/>
          <p:nvPr/>
        </p:nvSpPr>
        <p:spPr>
          <a:xfrm>
            <a:off x="1271420" y="3900667"/>
            <a:ext cx="21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加入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endParaRPr lang="zh-TW" altLang="en-US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4782849-6A30-D66A-183F-0D69B10360E9}"/>
              </a:ext>
            </a:extLst>
          </p:cNvPr>
          <p:cNvSpPr txBox="1"/>
          <p:nvPr/>
        </p:nvSpPr>
        <p:spPr>
          <a:xfrm>
            <a:off x="2488353" y="6119336"/>
            <a:ext cx="721529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threshold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提升到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0.6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後可以看到，加入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的結果，模型在特徵抓取和背景排除方面表現出更高的自信和準確率，使其能更明確的理解任務要求，專注於目標對象，從而提高分割結果的質量和準確率。</a:t>
            </a:r>
          </a:p>
        </p:txBody>
      </p:sp>
    </p:spTree>
    <p:extLst>
      <p:ext uri="{BB962C8B-B14F-4D97-AF65-F5344CB8AC3E}">
        <p14:creationId xmlns:p14="http://schemas.microsoft.com/office/powerpoint/2010/main" val="2799729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A87CE2-33C6-B837-E7D9-1383C3A2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153908"/>
            <a:ext cx="10364451" cy="930361"/>
          </a:xfrm>
        </p:spPr>
        <p:txBody>
          <a:bodyPr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任務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比較結果</a:t>
            </a:r>
            <a:endParaRPr lang="zh-TW" altLang="en-US" sz="36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6E2331-A3D3-4D60-A166-955EB7C2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227" y="6406726"/>
            <a:ext cx="76421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8199A2-50BD-4660-85DA-129A1F333112}" type="slidenum">
              <a:rPr kumimoji="0" lang="zh-TW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1BCF8DA5-BEA4-0A86-DA83-551CF1214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084269"/>
            <a:ext cx="10364452" cy="4574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分割目標：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Pascal-5i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資料集中的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airplane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部分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整體評估</a:t>
            </a:r>
            <a:endParaRPr lang="en-US" altLang="zh-TW" sz="14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/>
            <a:r>
              <a:rPr lang="en-US" altLang="zh-TW" sz="12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Threshold = 0.5</a:t>
            </a:r>
          </a:p>
          <a:p>
            <a:pPr lvl="3"/>
            <a:r>
              <a:rPr lang="zh-TW" altLang="en-US" sz="12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未加入</a:t>
            </a:r>
            <a:r>
              <a:rPr lang="en-US" altLang="zh-TW" sz="12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</a:p>
          <a:p>
            <a:pPr lvl="3"/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3"/>
            <a:r>
              <a:rPr lang="zh-TW" altLang="en-US" sz="12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加入</a:t>
            </a:r>
            <a:r>
              <a:rPr lang="en-US" altLang="zh-TW" sz="12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</a:p>
          <a:p>
            <a:pPr marL="914400" lvl="2" indent="0">
              <a:buNone/>
            </a:pPr>
            <a:endParaRPr lang="en-US" altLang="zh-TW" sz="12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2"/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Threshold = 0.6</a:t>
            </a:r>
          </a:p>
          <a:p>
            <a:pPr lvl="3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</a:t>
            </a:r>
            <a:r>
              <a:rPr lang="zh-TW" altLang="en-US" sz="12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加入</a:t>
            </a:r>
            <a:r>
              <a:rPr lang="en-US" altLang="zh-TW" sz="12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</a:p>
          <a:p>
            <a:pPr lvl="3"/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3"/>
            <a:r>
              <a:rPr lang="zh-TW" altLang="en-US" sz="12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加入</a:t>
            </a:r>
            <a:r>
              <a:rPr lang="en-US" altLang="zh-TW" sz="12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</a:p>
          <a:p>
            <a:pPr lvl="3"/>
            <a:endParaRPr lang="en-US" altLang="zh-TW" sz="12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3"/>
            <a:endParaRPr lang="en-US" altLang="zh-TW" sz="12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4B9BD4A-2237-361F-99E0-C2232438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732" y="2297904"/>
            <a:ext cx="5760000" cy="24252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E695E48-1225-B724-BA7A-99122624E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732" y="2918443"/>
            <a:ext cx="5760000" cy="22109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74EEFD3-B3B6-E7D6-3EE4-762B7B5BF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732" y="4313579"/>
            <a:ext cx="5760000" cy="24635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8105041-A1C7-BDFD-CC1D-24E4B2447E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6732" y="3718745"/>
            <a:ext cx="5760000" cy="211161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A8AD4A3F-2172-3D67-2C35-DD6098DDA2F0}"/>
              </a:ext>
            </a:extLst>
          </p:cNvPr>
          <p:cNvSpPr txBox="1"/>
          <p:nvPr/>
        </p:nvSpPr>
        <p:spPr>
          <a:xfrm>
            <a:off x="1601113" y="4955286"/>
            <a:ext cx="8737944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對模型性能的影響：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threshold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0.5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：加入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後，</a:t>
            </a:r>
            <a:r>
              <a:rPr lang="en-US" altLang="zh-TW" sz="1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mIoU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 </a:t>
            </a:r>
            <a:r>
              <a:rPr lang="en-US" altLang="zh-TW" sz="1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mIoUBIN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的平均均有提升，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也有所提高。這表明加入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後，模型對目標的分割更加準確，識別效果更好。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threshold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0.6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：加入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後，</a:t>
            </a:r>
            <a:r>
              <a:rPr lang="en-US" altLang="zh-TW" sz="1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mIoU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 </a:t>
            </a:r>
            <a:r>
              <a:rPr lang="en-US" altLang="zh-TW" sz="1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mIoUBIN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的平均明顯提升，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也有所增加。這進一步表明，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prompt engineering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能幫助模型更好地抓取和分割目標特徵，尤其在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threshold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情況下效果更為明顯。</a:t>
            </a:r>
          </a:p>
        </p:txBody>
      </p:sp>
    </p:spTree>
    <p:extLst>
      <p:ext uri="{BB962C8B-B14F-4D97-AF65-F5344CB8AC3E}">
        <p14:creationId xmlns:p14="http://schemas.microsoft.com/office/powerpoint/2010/main" val="3723435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A87CE2-33C6-B837-E7D9-1383C3A2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153908"/>
            <a:ext cx="10364451" cy="930361"/>
          </a:xfrm>
        </p:spPr>
        <p:txBody>
          <a:bodyPr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任務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36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6E2331-A3D3-4D60-A166-955EB7C2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227" y="6406726"/>
            <a:ext cx="76421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8199A2-50BD-4660-85DA-129A1F333112}" type="slidenum">
              <a:rPr kumimoji="0" lang="zh-TW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1BCF8DA5-BEA4-0A86-DA83-551CF1214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084269"/>
            <a:ext cx="10364452" cy="4574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分割目標：自己的圖片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(cat)</a:t>
            </a:r>
          </a:p>
          <a:p>
            <a:pPr lvl="3"/>
            <a:endParaRPr lang="en-US" altLang="zh-TW" sz="12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 descr="一張含有 平面設計, 藝術 的圖片&#10;&#10;自動產生的描述">
            <a:extLst>
              <a:ext uri="{FF2B5EF4-FFF2-40B4-BE49-F238E27FC236}">
                <a16:creationId xmlns:a16="http://schemas.microsoft.com/office/drawing/2014/main" id="{3D47AB50-5E28-8A35-AC39-221DA5A85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3" y="2014630"/>
            <a:ext cx="5400000" cy="1440000"/>
          </a:xfrm>
          <a:prstGeom prst="rect">
            <a:avLst/>
          </a:prstGeom>
        </p:spPr>
      </p:pic>
      <p:pic>
        <p:nvPicPr>
          <p:cNvPr id="10" name="圖片 9" descr="一張含有 藝術 的圖片&#10;&#10;自動產生的描述">
            <a:extLst>
              <a:ext uri="{FF2B5EF4-FFF2-40B4-BE49-F238E27FC236}">
                <a16:creationId xmlns:a16="http://schemas.microsoft.com/office/drawing/2014/main" id="{01B20074-CE7C-190E-C44D-91FFA0A4F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3" y="4384991"/>
            <a:ext cx="5400000" cy="14400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7D583A92-1CB6-ED96-D00C-4DFAC5115836}"/>
              </a:ext>
            </a:extLst>
          </p:cNvPr>
          <p:cNvSpPr txBox="1"/>
          <p:nvPr/>
        </p:nvSpPr>
        <p:spPr>
          <a:xfrm>
            <a:off x="800640" y="1713115"/>
            <a:ext cx="21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未加入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endParaRPr lang="zh-TW" altLang="en-US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C24B29E-5525-EEAF-3E5D-67D154614FCE}"/>
              </a:ext>
            </a:extLst>
          </p:cNvPr>
          <p:cNvSpPr txBox="1"/>
          <p:nvPr/>
        </p:nvSpPr>
        <p:spPr>
          <a:xfrm>
            <a:off x="800640" y="4121842"/>
            <a:ext cx="21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加入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endParaRPr lang="zh-TW" altLang="en-US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1EC3791-6B5C-6C30-C8F7-C00754608ECC}"/>
              </a:ext>
            </a:extLst>
          </p:cNvPr>
          <p:cNvSpPr txBox="1"/>
          <p:nvPr/>
        </p:nvSpPr>
        <p:spPr>
          <a:xfrm>
            <a:off x="913772" y="6137335"/>
            <a:ext cx="762062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基本上可分割出主要目標，但加入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的結果稍微有一點沒那麼乾淨。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5071256"/>
      </p:ext>
    </p:extLst>
  </p:cSld>
  <p:clrMapOvr>
    <a:masterClrMapping/>
  </p:clrMapOvr>
</p:sld>
</file>

<file path=ppt/theme/theme1.xml><?xml version="1.0" encoding="utf-8"?>
<a:theme xmlns:a="http://schemas.openxmlformats.org/drawingml/2006/main" name="小水滴">
  <a:themeElements>
    <a:clrScheme name="小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小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小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411</Words>
  <Application>Microsoft Office PowerPoint</Application>
  <PresentationFormat>寬螢幕</PresentationFormat>
  <Paragraphs>60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微軟正黑體</vt:lpstr>
      <vt:lpstr>Arial</vt:lpstr>
      <vt:lpstr>Tw Cen MT</vt:lpstr>
      <vt:lpstr>小水滴</vt:lpstr>
      <vt:lpstr>HW3 比較結果</vt:lpstr>
      <vt:lpstr>任務1比較結果</vt:lpstr>
      <vt:lpstr>任務1比較結果</vt:lpstr>
      <vt:lpstr>比較結果</vt:lpstr>
      <vt:lpstr>任務1比較結果</vt:lpstr>
      <vt:lpstr>任務2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鄭煜醴</dc:creator>
  <cp:lastModifiedBy>鄭煜醴</cp:lastModifiedBy>
  <cp:revision>35</cp:revision>
  <dcterms:created xsi:type="dcterms:W3CDTF">2024-06-11T15:32:03Z</dcterms:created>
  <dcterms:modified xsi:type="dcterms:W3CDTF">2024-06-12T09:12:45Z</dcterms:modified>
</cp:coreProperties>
</file>